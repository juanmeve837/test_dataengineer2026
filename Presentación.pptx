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1" r:id="rId6"/>
    <p:sldId id="260" r:id="rId7"/>
    <p:sldId id="257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7DFB6-F4DE-7985-1FA3-B315248F3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461552-98DD-9D78-E398-13FCE55D7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AC416F-8EBF-D6B5-2212-CF048368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E4A10-2E02-6262-78A5-7EC4DCA8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FDCB31-BCC1-AFD7-6CA3-3B01BBF1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345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B1112-7C44-2351-F35E-39188C1F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780E1-9B45-46C3-5884-4C40BEBD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7788C-129D-17A1-531E-4E76910A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D34FB9-6875-C17E-8A54-5B6A17CA4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F81C7A-A2CF-E9CD-6479-5B6E5CE1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7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36AE8-D25D-5EAB-1AAF-E00AC994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658A75-E3C7-C3B3-FB8A-5077CE869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98E8A9-4BDA-F538-6A6A-D1B893D5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0F4EDC-3742-3A7E-E040-EFB1693C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CCE558-01AC-6196-B919-3C795A59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063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76A3A-A37F-4827-E502-CCF946482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B975BA-9B7E-E6EA-C27F-BFD3E89CB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239941-5CA5-F29B-B8BC-7FB7706E0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C33E2F-F3D2-FA1C-9AA1-13E9EA74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4B9DEC-A9E4-D46B-1C9C-8CE79B8F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20A80-293A-B6EB-189C-42787A34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33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08950-D205-0D49-95B5-AC7A10FB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B8899F-E868-CEAD-328E-39B3DDE7A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98845B-D219-2EE4-D02C-6D0C33244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70A4F7-E0B1-F7E0-BE66-1986C6881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A6D725-4D63-DC3D-1E6B-89AF08F37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6A8CAB-C861-39BB-B1FA-1AF124CA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487DB1-4037-5A2D-47B6-9014FE67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3D3C3C-B8BC-2485-E47E-0B45AC40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361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EAE24-4ABA-7FB5-D412-B4F66627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621B33-ACE6-1BA0-EEE4-2D3697F5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0BC021-B190-12F5-F106-349EA8964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7E725F-9A05-52A6-CC4E-75C36D89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033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D5163F7-DC07-0886-89D1-E2CE155C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AA93AB-D603-4F4D-EB83-8C391823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6295E3-6A74-A446-581C-CF98B7ED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0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FD263-F637-141E-3386-FC2EE8B7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F2CD7-8D1F-6E23-A5E0-425AB4685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BA5576-8EB3-77BB-0B45-4D4425B9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52795A-6606-A753-D395-40DB42D8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5413CE-CA82-D324-884E-1C9EC0E2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FB673C-34D6-DFA8-87BE-1DF804F0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210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5DB82-3288-53F2-C134-D5B2E7CB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BBD28A-C110-7AD3-B624-4FA1844C1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FBC032-7C43-87F0-0E05-724C365BD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BD5FD9-11E4-218D-996A-B2AEF706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E14548-A7A7-0FBA-18AA-CBBD947F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27A0EC-1158-699B-9124-17DD7964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04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20EB9-EEE8-9DF7-2580-1A5AE1EF9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805C95-21E0-C226-2BE3-0EFB54F65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60580-A058-4EAB-85AD-329FD227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FF4C49-AC46-14E6-2610-B30ACB69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94A60D-637A-AF61-EE9C-596ACECC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059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61AC13-87F0-B3DE-B634-0858047A0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D67E78-12D2-4A45-4C92-6E720548D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5BD304-B633-2CD7-9902-E069D8E0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188D85-C457-7B10-C249-DCC2B51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A6FAC-A5F7-5311-1F6C-36145E79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2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F11672-B063-F5F3-8A8C-B9E4AD76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5ED3F2-B310-F399-DAEB-38250108B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FACAE0-ABA3-8B7D-F1A2-9E016C540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72571-FB0D-4273-8C37-B67A3DE4B09F}" type="datetimeFigureOut">
              <a:rPr lang="es-CO" smtClean="0"/>
              <a:t>10/01/2026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92A988-97CD-B89B-8568-00A0BAB80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431E3A-9359-4DD8-3C20-9789AA498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7AFC6-6AB6-467C-BA4B-D6F23A010B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868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A06CC4A7-1A46-7597-041B-A8A104FE259C}"/>
              </a:ext>
            </a:extLst>
          </p:cNvPr>
          <p:cNvSpPr txBox="1"/>
          <p:nvPr/>
        </p:nvSpPr>
        <p:spPr>
          <a:xfrm>
            <a:off x="9014690" y="6305171"/>
            <a:ext cx="3177310" cy="36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Juan Fernando Mesa Vergara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43C1D88-8AF6-AD9F-027E-4069CB5A3007}"/>
              </a:ext>
            </a:extLst>
          </p:cNvPr>
          <p:cNvSpPr txBox="1"/>
          <p:nvPr/>
        </p:nvSpPr>
        <p:spPr>
          <a:xfrm>
            <a:off x="5163127" y="368133"/>
            <a:ext cx="69642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Pipeline Inteligente de Extracción para Informes Mineros.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599D2F-31EE-FD25-6755-E85082DCE013}"/>
              </a:ext>
            </a:extLst>
          </p:cNvPr>
          <p:cNvSpPr txBox="1"/>
          <p:nvPr/>
        </p:nvSpPr>
        <p:spPr>
          <a:xfrm>
            <a:off x="5273964" y="1384195"/>
            <a:ext cx="6853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Solución de procesamiento de datos no estructurados con </a:t>
            </a:r>
            <a:r>
              <a:rPr lang="es-MX" dirty="0" err="1"/>
              <a:t>LlamaIndex</a:t>
            </a:r>
            <a:r>
              <a:rPr lang="es-MX" dirty="0"/>
              <a:t> y GitHub </a:t>
            </a:r>
            <a:r>
              <a:rPr lang="es-MX" dirty="0" err="1"/>
              <a:t>Models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769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65F21D8-F1A5-E4DB-2070-498C526B64AA}"/>
              </a:ext>
            </a:extLst>
          </p:cNvPr>
          <p:cNvSpPr txBox="1"/>
          <p:nvPr/>
        </p:nvSpPr>
        <p:spPr>
          <a:xfrm>
            <a:off x="932873" y="66046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/>
              <a:t>El Desafío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17B879-505C-1F49-5A9F-B13EDA7BEE6B}"/>
              </a:ext>
            </a:extLst>
          </p:cNvPr>
          <p:cNvSpPr txBox="1"/>
          <p:nvPr/>
        </p:nvSpPr>
        <p:spPr>
          <a:xfrm>
            <a:off x="932873" y="1344044"/>
            <a:ext cx="10631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Problema:</a:t>
            </a:r>
            <a:r>
              <a:rPr lang="es-MX" dirty="0"/>
              <a:t> Los informes técnicos mineros son extensos, inconsistentes en formato y contienen datos críticos (Reservas, Recursos) "atrapados" en tablas y texto.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CD593F-D052-D8E0-8085-E6859457D8EC}"/>
              </a:ext>
            </a:extLst>
          </p:cNvPr>
          <p:cNvSpPr txBox="1"/>
          <p:nvPr/>
        </p:nvSpPr>
        <p:spPr>
          <a:xfrm>
            <a:off x="932872" y="2150738"/>
            <a:ext cx="106310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Solución:</a:t>
            </a:r>
            <a:r>
              <a:rPr lang="es-MX" dirty="0"/>
              <a:t> Desarrollé un sistema modular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Automatiza la ingesta de </a:t>
            </a:r>
            <a:r>
              <a:rPr lang="es-MX" dirty="0" err="1"/>
              <a:t>PDFs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Realiza </a:t>
            </a:r>
            <a:r>
              <a:rPr lang="es-MX" b="1" dirty="0"/>
              <a:t>análisis semántico</a:t>
            </a:r>
            <a:r>
              <a:rPr lang="es-MX" dirty="0"/>
              <a:t> para identificar secciones clave.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Estructura la información en </a:t>
            </a:r>
            <a:r>
              <a:rPr lang="es-MX" dirty="0" err="1"/>
              <a:t>datasets</a:t>
            </a:r>
            <a:r>
              <a:rPr lang="es-MX" dirty="0"/>
              <a:t> listos para análisis (CSV/Pandas).</a:t>
            </a:r>
          </a:p>
          <a:p>
            <a:pPr>
              <a:buNone/>
            </a:pPr>
            <a:r>
              <a:rPr lang="es-MX" b="1" dirty="0"/>
              <a:t>KPI:</a:t>
            </a:r>
            <a:r>
              <a:rPr lang="es-MX" dirty="0"/>
              <a:t> Reducción del tiempo de extracción manual de horas a segundos por documento.</a:t>
            </a:r>
          </a:p>
        </p:txBody>
      </p:sp>
      <p:pic>
        <p:nvPicPr>
          <p:cNvPr id="13" name="Imagen 12" descr="Forma&#10;&#10;El contenido generado por IA puede ser incorrecto.">
            <a:extLst>
              <a:ext uri="{FF2B5EF4-FFF2-40B4-BE49-F238E27FC236}">
                <a16:creationId xmlns:a16="http://schemas.microsoft.com/office/drawing/2014/main" id="{CE443F66-5831-2825-F015-41D66217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276" y="4050318"/>
            <a:ext cx="7039957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3D99E87-54C9-B3B4-D3EF-C82EE759774A}"/>
              </a:ext>
            </a:extLst>
          </p:cNvPr>
          <p:cNvSpPr txBox="1"/>
          <p:nvPr/>
        </p:nvSpPr>
        <p:spPr>
          <a:xfrm>
            <a:off x="831273" y="1302326"/>
            <a:ext cx="108250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Ingesta y Limpieza:</a:t>
            </a:r>
            <a:r>
              <a:rPr lang="es-MX" dirty="0"/>
              <a:t> Uso de </a:t>
            </a:r>
            <a:r>
              <a:rPr lang="es-MX" dirty="0" err="1">
                <a:latin typeface="Courier New" panose="02070309020205020404" pitchFamily="49" charset="0"/>
              </a:rPr>
              <a:t>Unstructured</a:t>
            </a:r>
            <a:r>
              <a:rPr lang="es-MX" dirty="0"/>
              <a:t> para particionar el PDF preservando la jerarquía de títulos y tablas.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Orquestación de IA:</a:t>
            </a:r>
            <a:r>
              <a:rPr lang="es-MX" dirty="0"/>
              <a:t> </a:t>
            </a:r>
            <a:r>
              <a:rPr lang="es-MX" dirty="0" err="1">
                <a:latin typeface="Courier New" panose="02070309020205020404" pitchFamily="49" charset="0"/>
              </a:rPr>
              <a:t>LlamaIndex</a:t>
            </a:r>
            <a:r>
              <a:rPr lang="es-MX" dirty="0"/>
              <a:t> para la creación de un índice vectorial que permite al LLM "leer" solo lo relevante del documento.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Razonamiento:</a:t>
            </a:r>
            <a:r>
              <a:rPr lang="es-MX" dirty="0"/>
              <a:t> Integración con </a:t>
            </a:r>
            <a:r>
              <a:rPr lang="es-MX" dirty="0">
                <a:latin typeface="Courier New" panose="02070309020205020404" pitchFamily="49" charset="0"/>
              </a:rPr>
              <a:t>GPT-4o</a:t>
            </a:r>
            <a:r>
              <a:rPr lang="es-MX" dirty="0"/>
              <a:t> (vía GitHub </a:t>
            </a:r>
            <a:r>
              <a:rPr lang="es-MX" dirty="0" err="1"/>
              <a:t>Models</a:t>
            </a:r>
            <a:r>
              <a:rPr lang="es-MX" dirty="0"/>
              <a:t>) para la extracción de entidades específicas (Tonelaje, Ley de corte, Onzas).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Herramientas Modernas:</a:t>
            </a:r>
            <a:r>
              <a:rPr lang="es-MX" dirty="0"/>
              <a:t> Gestión de dependencias con </a:t>
            </a:r>
            <a:r>
              <a:rPr lang="es-MX" dirty="0" err="1">
                <a:latin typeface="Courier New" panose="02070309020205020404" pitchFamily="49" charset="0"/>
              </a:rPr>
              <a:t>uv</a:t>
            </a:r>
            <a:r>
              <a:rPr lang="es-MX" dirty="0"/>
              <a:t> para entornos reproducibles y ultrarrápidos.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C3CF8A-F352-9011-4474-8950F41F989C}"/>
              </a:ext>
            </a:extLst>
          </p:cNvPr>
          <p:cNvSpPr txBox="1"/>
          <p:nvPr/>
        </p:nvSpPr>
        <p:spPr>
          <a:xfrm>
            <a:off x="831273" y="6327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800" b="1" dirty="0" err="1"/>
              <a:t>Stack</a:t>
            </a:r>
            <a:r>
              <a:rPr lang="es-MX" sz="2800" b="1" dirty="0"/>
              <a:t> &amp; Metodología</a:t>
            </a:r>
          </a:p>
        </p:txBody>
      </p:sp>
      <p:pic>
        <p:nvPicPr>
          <p:cNvPr id="8" name="Imagen 7" descr="Forma&#10;&#10;El contenido generado por IA puede ser incorrecto.">
            <a:extLst>
              <a:ext uri="{FF2B5EF4-FFF2-40B4-BE49-F238E27FC236}">
                <a16:creationId xmlns:a16="http://schemas.microsoft.com/office/drawing/2014/main" id="{77C9DFDB-DB7F-3AEC-8D66-1BE72FE87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66" y="3717809"/>
            <a:ext cx="8627295" cy="2031325"/>
          </a:xfrm>
          <a:prstGeom prst="rect">
            <a:avLst/>
          </a:prstGeom>
        </p:spPr>
      </p:pic>
      <p:pic>
        <p:nvPicPr>
          <p:cNvPr id="9" name="Imagen 8" descr="A simple introduction to MLFlow. Some of you might have heard a… | by  Hitoruna | Medium">
            <a:extLst>
              <a:ext uri="{FF2B5EF4-FFF2-40B4-BE49-F238E27FC236}">
                <a16:creationId xmlns:a16="http://schemas.microsoft.com/office/drawing/2014/main" id="{79449AEE-FF16-1206-59EB-85A8DD76D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228" y="3949267"/>
            <a:ext cx="1202027" cy="462830"/>
          </a:xfrm>
          <a:prstGeom prst="rect">
            <a:avLst/>
          </a:prstGeom>
        </p:spPr>
      </p:pic>
      <p:pic>
        <p:nvPicPr>
          <p:cNvPr id="10" name="Imagen 9" descr="Efficient Document Embedding Management with ChromaDB: Deleting, Resetting,  and More | by Anay Dongre | GoPenAI">
            <a:extLst>
              <a:ext uri="{FF2B5EF4-FFF2-40B4-BE49-F238E27FC236}">
                <a16:creationId xmlns:a16="http://schemas.microsoft.com/office/drawing/2014/main" id="{FD2705B1-01BE-7971-A1B0-3DF419FE2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031" y="5320156"/>
            <a:ext cx="1219200" cy="428978"/>
          </a:xfrm>
          <a:prstGeom prst="rect">
            <a:avLst/>
          </a:prstGeom>
        </p:spPr>
      </p:pic>
      <p:pic>
        <p:nvPicPr>
          <p:cNvPr id="11" name="Imagen 10" descr="Microsoft Azure | One Data">
            <a:extLst>
              <a:ext uri="{FF2B5EF4-FFF2-40B4-BE49-F238E27FC236}">
                <a16:creationId xmlns:a16="http://schemas.microsoft.com/office/drawing/2014/main" id="{A58A9EF9-0AA3-D315-699E-53711E405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260" y="5101171"/>
            <a:ext cx="973715" cy="647963"/>
          </a:xfrm>
          <a:prstGeom prst="rect">
            <a:avLst/>
          </a:prstGeom>
        </p:spPr>
      </p:pic>
      <p:pic>
        <p:nvPicPr>
          <p:cNvPr id="12" name="Imagen 11" descr="OpenAI (ChatGPT, Sora, DALL-E, Whisper) - Apps Documentation">
            <a:extLst>
              <a:ext uri="{FF2B5EF4-FFF2-40B4-BE49-F238E27FC236}">
                <a16:creationId xmlns:a16="http://schemas.microsoft.com/office/drawing/2014/main" id="{18A66470-9099-62C9-BCFD-542DF3457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3909" y="5654877"/>
            <a:ext cx="478415" cy="478415"/>
          </a:xfrm>
          <a:prstGeom prst="rect">
            <a:avLst/>
          </a:prstGeom>
        </p:spPr>
      </p:pic>
      <p:pic>
        <p:nvPicPr>
          <p:cNvPr id="13" name="Imagen 12" descr="File:Claude AI symbol.svg - Wikipedia">
            <a:extLst>
              <a:ext uri="{FF2B5EF4-FFF2-40B4-BE49-F238E27FC236}">
                <a16:creationId xmlns:a16="http://schemas.microsoft.com/office/drawing/2014/main" id="{ACC84DAB-282D-DA7F-EFFE-A4346FA15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1276" y="5596381"/>
            <a:ext cx="336348" cy="336348"/>
          </a:xfrm>
          <a:prstGeom prst="rect">
            <a:avLst/>
          </a:prstGeom>
        </p:spPr>
      </p:pic>
      <p:pic>
        <p:nvPicPr>
          <p:cNvPr id="14" name="Imagen 13" descr="GitHub - Unstructured-IO/unstructured: Convert documents to structured data  effortlessly. Unstructured is open-source ETL solution for transforming  complex documents into clean, structured formats for language models. Visit  our website to learn more about">
            <a:extLst>
              <a:ext uri="{FF2B5EF4-FFF2-40B4-BE49-F238E27FC236}">
                <a16:creationId xmlns:a16="http://schemas.microsoft.com/office/drawing/2014/main" id="{773529D9-FDB3-CB18-5A1F-0A3F42D67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2048" y="3949267"/>
            <a:ext cx="461963" cy="46196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2363C20-4E53-524A-449A-F3211703E600}"/>
              </a:ext>
            </a:extLst>
          </p:cNvPr>
          <p:cNvSpPr txBox="1"/>
          <p:nvPr/>
        </p:nvSpPr>
        <p:spPr>
          <a:xfrm>
            <a:off x="5962650" y="5980592"/>
            <a:ext cx="483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* Posible </a:t>
            </a:r>
            <a:r>
              <a:rPr lang="es-CO" dirty="0" err="1"/>
              <a:t>stack</a:t>
            </a:r>
            <a:r>
              <a:rPr lang="es-CO" dirty="0"/>
              <a:t> a usar en producción</a:t>
            </a:r>
          </a:p>
        </p:txBody>
      </p:sp>
      <p:pic>
        <p:nvPicPr>
          <p:cNvPr id="16" name="Imagen 15" descr="LlamaIndex for Beginners (2025): A Complete Guide to Building RAG Apps from  Zero to Production | by gautam soni | Medium">
            <a:extLst>
              <a:ext uri="{FF2B5EF4-FFF2-40B4-BE49-F238E27FC236}">
                <a16:creationId xmlns:a16="http://schemas.microsoft.com/office/drawing/2014/main" id="{4173F9A9-4CD3-0FA2-67CD-9FF8EC65D6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3881" y="3559132"/>
            <a:ext cx="1200150" cy="48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2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43BA6-67E1-70A8-4588-C92A6EC8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5B8F9DE-FADC-FEB2-EA90-16871561A1E5}"/>
              </a:ext>
            </a:extLst>
          </p:cNvPr>
          <p:cNvSpPr txBox="1"/>
          <p:nvPr/>
        </p:nvSpPr>
        <p:spPr>
          <a:xfrm>
            <a:off x="831273" y="6327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800" b="1" dirty="0"/>
              <a:t>Resultados</a:t>
            </a:r>
          </a:p>
        </p:txBody>
      </p:sp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F7928C9-FF60-39DF-A209-260DD9BC3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41" y="1418648"/>
            <a:ext cx="5255059" cy="2603618"/>
          </a:xfrm>
          <a:prstGeom prst="rect">
            <a:avLst/>
          </a:prstGeom>
        </p:spPr>
      </p:pic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F755625-9669-D970-6A72-56AA084FA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84393"/>
            <a:ext cx="5449455" cy="338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45896-186C-848B-BDA0-68C89EFF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s-CO" sz="2800" b="1" dirty="0"/>
              <a:t>Arquitectura para Producción (Escala)</a:t>
            </a:r>
            <a:br>
              <a:rPr lang="es-CO" sz="2800" b="1" dirty="0"/>
            </a:b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B11DB-F663-F300-9BD9-2B866A093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b="1" dirty="0"/>
              <a:t>Escalabilidad:</a:t>
            </a:r>
            <a:r>
              <a:rPr lang="es-CO" dirty="0"/>
              <a:t> Migración a </a:t>
            </a:r>
            <a:r>
              <a:rPr lang="es-CO" b="1" dirty="0"/>
              <a:t>AWS Step </a:t>
            </a:r>
            <a:r>
              <a:rPr lang="es-CO" b="1" dirty="0" err="1"/>
              <a:t>Functions</a:t>
            </a:r>
            <a:r>
              <a:rPr lang="es-CO" b="1" dirty="0"/>
              <a:t> + </a:t>
            </a:r>
            <a:r>
              <a:rPr lang="es-CO" b="1" dirty="0" err="1"/>
              <a:t>Kubernetes</a:t>
            </a:r>
            <a:r>
              <a:rPr lang="es-CO" b="1" dirty="0"/>
              <a:t> (EKS)</a:t>
            </a:r>
            <a:r>
              <a:rPr lang="es-CO" dirty="0"/>
              <a:t> para procesar 10,000+ </a:t>
            </a:r>
            <a:r>
              <a:rPr lang="es-CO" dirty="0" err="1"/>
              <a:t>PDFs</a:t>
            </a:r>
            <a:r>
              <a:rPr lang="es-CO" dirty="0"/>
              <a:t> en paralelo.</a:t>
            </a:r>
          </a:p>
          <a:p>
            <a:r>
              <a:rPr lang="es-CO" b="1" dirty="0"/>
              <a:t>Modern Data </a:t>
            </a:r>
            <a:r>
              <a:rPr lang="es-CO" b="1" dirty="0" err="1"/>
              <a:t>Stack</a:t>
            </a:r>
            <a:r>
              <a:rPr lang="es-CO" b="1" dirty="0"/>
              <a:t>:</a:t>
            </a:r>
            <a:endParaRPr lang="es-CO" dirty="0"/>
          </a:p>
          <a:p>
            <a:pPr lvl="1"/>
            <a:r>
              <a:rPr lang="es-CO" b="1" dirty="0"/>
              <a:t>In-Storage:</a:t>
            </a:r>
            <a:r>
              <a:rPr lang="es-CO" dirty="0"/>
              <a:t> Delta Lake para versionado de datos extraídos.</a:t>
            </a:r>
          </a:p>
          <a:p>
            <a:pPr lvl="1"/>
            <a:r>
              <a:rPr lang="es-CO" b="1" dirty="0"/>
              <a:t>Vector DB:</a:t>
            </a:r>
            <a:r>
              <a:rPr lang="es-CO" dirty="0"/>
              <a:t> </a:t>
            </a:r>
            <a:r>
              <a:rPr lang="es-CO" dirty="0" err="1"/>
              <a:t>Pinecone</a:t>
            </a:r>
            <a:r>
              <a:rPr lang="es-CO" dirty="0"/>
              <a:t> o </a:t>
            </a:r>
            <a:r>
              <a:rPr lang="es-CO" dirty="0" err="1"/>
              <a:t>Chroma</a:t>
            </a:r>
            <a:r>
              <a:rPr lang="es-CO" dirty="0"/>
              <a:t> Cloud para búsquedas semánticas </a:t>
            </a:r>
            <a:r>
              <a:rPr lang="es-CO" dirty="0" err="1"/>
              <a:t>multi-usuario</a:t>
            </a:r>
            <a:r>
              <a:rPr lang="es-CO" dirty="0"/>
              <a:t>.</a:t>
            </a:r>
          </a:p>
          <a:p>
            <a:r>
              <a:rPr lang="es-CO" b="1" dirty="0"/>
              <a:t>Human-in-</a:t>
            </a:r>
            <a:r>
              <a:rPr lang="es-CO" b="1" dirty="0" err="1"/>
              <a:t>the</a:t>
            </a:r>
            <a:r>
              <a:rPr lang="es-CO" b="1" dirty="0"/>
              <a:t>-</a:t>
            </a:r>
            <a:r>
              <a:rPr lang="es-CO" b="1" dirty="0" err="1"/>
              <a:t>loop</a:t>
            </a:r>
            <a:r>
              <a:rPr lang="es-CO" b="1" dirty="0"/>
              <a:t>:</a:t>
            </a:r>
            <a:r>
              <a:rPr lang="es-CO" dirty="0"/>
              <a:t> Pipeline de auditoría para extracciones con bajo nivel de confianza.</a:t>
            </a:r>
          </a:p>
          <a:p>
            <a:r>
              <a:rPr lang="es-CO" b="1" dirty="0" err="1"/>
              <a:t>Observabilidad</a:t>
            </a:r>
            <a:r>
              <a:rPr lang="es-CO" b="1" dirty="0"/>
              <a:t>:</a:t>
            </a:r>
            <a:r>
              <a:rPr lang="es-CO" dirty="0"/>
              <a:t> Monitoreo de latencia y "</a:t>
            </a:r>
            <a:r>
              <a:rPr lang="es-CO" dirty="0" err="1"/>
              <a:t>drift</a:t>
            </a:r>
            <a:r>
              <a:rPr lang="es-CO" dirty="0"/>
              <a:t>" del modelo con </a:t>
            </a:r>
            <a:r>
              <a:rPr lang="es-CO" dirty="0" err="1"/>
              <a:t>Arize</a:t>
            </a:r>
            <a:r>
              <a:rPr lang="es-CO" dirty="0"/>
              <a:t> Phoenix.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1824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114C1-E0B2-7BC5-7456-A01EBC5C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b="1" dirty="0"/>
              <a:t>Costos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1F44435-8F1D-EC1B-5489-5EBDF2A69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67564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162871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23364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324886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8431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Capa de Gasto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Tecnología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Costo Estm. por Hoja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Notas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7885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</a:rPr>
                        <a:t>Extracción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</a:rPr>
                        <a:t>Unstructured API (SaaS)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$0.030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Incluye OCR y limpieza de tablas.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01710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Inteligencia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</a:rPr>
                        <a:t>LLM (Metadata/Resumen)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$0.008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Basado en GPT-4o o Claude 3.5 Haiku.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64588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Embeddings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</a:rPr>
                        <a:t>OpenAI text-embedding-3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$0.0001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</a:rPr>
                        <a:t>Es casi despreciable por volumen.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70523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Infraestructura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AWS (S3, Lambda, Step F.)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$0.002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</a:rPr>
                        <a:t>Orquestación y almacenamiento base.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36000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TOTAL BASE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</a:rPr>
                        <a:t>$0.0401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</a:rPr>
                        <a:t>~$0.04 USD por hoja.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23797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33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8881-7FD7-4133-46AE-7E907AAD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F5604937-89CC-EC91-45E5-2EB5BF5B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81" y="1318010"/>
            <a:ext cx="8669061" cy="468900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51E020B-43E2-51DC-3066-09D08275E409}"/>
              </a:ext>
            </a:extLst>
          </p:cNvPr>
          <p:cNvSpPr txBox="1"/>
          <p:nvPr/>
        </p:nvSpPr>
        <p:spPr>
          <a:xfrm>
            <a:off x="508000" y="794790"/>
            <a:ext cx="4341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/>
              <a:t>Que Sigue….</a:t>
            </a:r>
          </a:p>
        </p:txBody>
      </p:sp>
    </p:spTree>
    <p:extLst>
      <p:ext uri="{BB962C8B-B14F-4D97-AF65-F5344CB8AC3E}">
        <p14:creationId xmlns:p14="http://schemas.microsoft.com/office/powerpoint/2010/main" val="2670168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365</Words>
  <Application>Microsoft Office PowerPoint</Application>
  <PresentationFormat>Panorámica</PresentationFormat>
  <Paragraphs>49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Google Sans Text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Arquitectura para Producción (Escala) </vt:lpstr>
      <vt:lpstr>Costos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Fernando</dc:creator>
  <cp:lastModifiedBy>Juan Fernando</cp:lastModifiedBy>
  <cp:revision>1</cp:revision>
  <dcterms:created xsi:type="dcterms:W3CDTF">2026-01-10T16:36:35Z</dcterms:created>
  <dcterms:modified xsi:type="dcterms:W3CDTF">2026-01-10T20:37:08Z</dcterms:modified>
</cp:coreProperties>
</file>